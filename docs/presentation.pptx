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B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788920"/>
            <a:ext cx="12191695" cy="54864"/>
          </a:xfrm>
          <a:prstGeom prst="rect">
            <a:avLst/>
          </a:prstGeom>
          <a:solidFill>
            <a:srgbClr val="E843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1371600"/>
            <a:ext cx="10515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Arial"/>
              </a:rPr>
              <a:t>Двухэтапный мониторинг</a:t>
            </a:r>
          </a:p>
          <a:p>
            <a:pPr algn="l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Arial"/>
              </a:rPr>
              <a:t>природных пожаров по данным ДЗЗ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97180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C6CDDA"/>
                </a:solidFill>
                <a:latin typeface="Arial"/>
              </a:rPr>
              <a:t>VIIRS · Sentinel-2 · Sentinel-1  —  детекция активного горения,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C6CDDA"/>
                </a:solidFill>
                <a:latin typeface="Arial"/>
              </a:rPr>
              <a:t>картирование гари и степени поражения, аналитический сервис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4572000"/>
            <a:ext cx="2286000" cy="731520"/>
          </a:xfrm>
          <a:prstGeom prst="rect">
            <a:avLst/>
          </a:prstGeom>
          <a:solidFill>
            <a:srgbClr val="1FA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6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Score 0.71</a:t>
            </a:r>
          </a:p>
        </p:txBody>
      </p:sp>
      <p:sp>
        <p:nvSpPr>
          <p:cNvPr id="6" name="Rectangle 5"/>
          <p:cNvSpPr/>
          <p:nvPr/>
        </p:nvSpPr>
        <p:spPr>
          <a:xfrm>
            <a:off x="3383280" y="4572000"/>
            <a:ext cx="2286000" cy="731520"/>
          </a:xfrm>
          <a:prstGeom prst="rect">
            <a:avLst/>
          </a:prstGeom>
          <a:solidFill>
            <a:srgbClr val="2E6C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6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F1_af 0.94</a:t>
            </a:r>
          </a:p>
        </p:txBody>
      </p:sp>
      <p:sp>
        <p:nvSpPr>
          <p:cNvPr id="7" name="Rectangle 6"/>
          <p:cNvSpPr/>
          <p:nvPr/>
        </p:nvSpPr>
        <p:spPr>
          <a:xfrm>
            <a:off x="5943600" y="4572000"/>
            <a:ext cx="2286000" cy="731520"/>
          </a:xfrm>
          <a:prstGeom prst="rect">
            <a:avLst/>
          </a:prstGeom>
          <a:solidFill>
            <a:srgbClr val="E843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6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инференс 50 с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585216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5A6372"/>
                </a:solidFill>
                <a:latin typeface="Arial"/>
              </a:rPr>
              <a:t>Команда «вувузела без семена» · КосмоХакатон 2026 · Красноярск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1B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E843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64592"/>
            <a:ext cx="1033272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2600" b="1">
                <a:solidFill>
                  <a:srgbClr val="FFFFFF"/>
                </a:solidFill>
                <a:latin typeface="Arial"/>
              </a:rPr>
              <a:t>Задача за 30 секунд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164592"/>
            <a:ext cx="8229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spcAft>
                <a:spcPts val="600"/>
              </a:spcAft>
            </a:pPr>
            <a:r>
              <a:rPr sz="2600" b="1">
                <a:solidFill>
                  <a:srgbClr val="E8433A"/>
                </a:solidFill>
                <a:latin typeface="Arial"/>
              </a:rPr>
              <a:t>02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35508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5A6372"/>
                </a:solidFill>
                <a:latin typeface="Arial"/>
              </a:rPr>
              <a:t>КосмоХакатон 2026 · Красноярск · команда «вувузела без семена»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463040"/>
            <a:ext cx="109728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600"/>
              </a:spcAft>
            </a:pPr>
            <a:r>
              <a:rPr sz="2000" b="1">
                <a:solidFill>
                  <a:srgbClr val="E8433A"/>
                </a:solidFill>
                <a:latin typeface="Arial"/>
              </a:rPr>
              <a:t>•  </a:t>
            </a:r>
            <a:r>
              <a:rPr sz="2000" b="1">
                <a:solidFill>
                  <a:srgbClr val="2E6CE8"/>
                </a:solidFill>
                <a:latin typeface="Arial"/>
              </a:rPr>
              <a:t>Модуль 1 — активное горение.  </a:t>
            </a:r>
            <a:r>
              <a:rPr sz="2000" b="0">
                <a:solidFill>
                  <a:srgbClr val="141B2E"/>
                </a:solidFill>
                <a:latin typeface="Arial"/>
              </a:rPr>
              <a:t>По ИК-каналам VIIRS (чип 256×256 @ 375 м) находим пиксели природного горения и отделяем их от техногенных термоаномалий — факелов, промплощадок, бликов.</a:t>
            </a:r>
          </a:p>
          <a:p>
            <a:pPr algn="l">
              <a:spcAft>
                <a:spcPts val="1600"/>
              </a:spcAft>
            </a:pPr>
            <a:r>
              <a:rPr sz="2000" b="1">
                <a:solidFill>
                  <a:srgbClr val="E8433A"/>
                </a:solidFill>
                <a:latin typeface="Arial"/>
              </a:rPr>
              <a:t>•  </a:t>
            </a:r>
            <a:r>
              <a:rPr sz="2000" b="1">
                <a:solidFill>
                  <a:srgbClr val="E8433A"/>
                </a:solidFill>
                <a:latin typeface="Arial"/>
              </a:rPr>
              <a:t>Модуль 2 — гарь и степень поражения.  </a:t>
            </a:r>
            <a:r>
              <a:rPr sz="2000" b="0">
                <a:solidFill>
                  <a:srgbClr val="141B2E"/>
                </a:solidFill>
                <a:latin typeface="Arial"/>
              </a:rPr>
              <a:t>По паре Sentinel-2 «до/после» (512×512 @ 20 м) + Sentinel-1 выделяем контур гари и относим каждый пиксель к слабой / средней / сильной степени.</a:t>
            </a:r>
          </a:p>
          <a:p>
            <a:pPr algn="l">
              <a:spcAft>
                <a:spcPts val="1600"/>
              </a:spcAft>
            </a:pPr>
            <a:r>
              <a:rPr sz="2000" b="1">
                <a:solidFill>
                  <a:srgbClr val="E8433A"/>
                </a:solidFill>
                <a:latin typeface="Arial"/>
              </a:rPr>
              <a:t>•  </a:t>
            </a:r>
            <a:r>
              <a:rPr sz="2000" b="1">
                <a:solidFill>
                  <a:srgbClr val="1FA66E"/>
                </a:solidFill>
                <a:latin typeface="Arial"/>
              </a:rPr>
              <a:t>Единый submission.csv.  </a:t>
            </a:r>
            <a:r>
              <a:rPr sz="2000" b="0">
                <a:solidFill>
                  <a:srgbClr val="141B2E"/>
                </a:solidFill>
                <a:latin typeface="Arial"/>
              </a:rPr>
              <a:t>Обе маски кодируются в RLE. Метрика Score = 0.35·F1_af + 0.35·IoU_burn + 0.30·mIoU_sev, микро-усреднение по всем пикселям.</a:t>
            </a:r>
          </a:p>
          <a:p>
            <a:pPr algn="l">
              <a:spcAft>
                <a:spcPts val="1600"/>
              </a:spcAft>
            </a:pPr>
            <a:r>
              <a:rPr sz="2000" b="1">
                <a:solidFill>
                  <a:srgbClr val="E8433A"/>
                </a:solidFill>
                <a:latin typeface="Arial"/>
              </a:rPr>
              <a:t>•  </a:t>
            </a:r>
            <a:r>
              <a:rPr sz="2000" b="1">
                <a:solidFill>
                  <a:srgbClr val="141B2E"/>
                </a:solidFill>
                <a:latin typeface="Arial"/>
              </a:rPr>
              <a:t>Сервис.  </a:t>
            </a:r>
            <a:r>
              <a:rPr sz="2000" b="0">
                <a:solidFill>
                  <a:srgbClr val="141B2E"/>
                </a:solidFill>
                <a:latin typeface="Arial"/>
              </a:rPr>
              <a:t>REST API + карта: термоточки, векторные контуры (GeoJSON), справка по площади гари.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1B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E843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64592"/>
            <a:ext cx="1033272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2600" b="1">
                <a:solidFill>
                  <a:srgbClr val="FFFFFF"/>
                </a:solidFill>
                <a:latin typeface="Arial"/>
              </a:rPr>
              <a:t>Почему это не решается одним порогом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164592"/>
            <a:ext cx="8229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spcAft>
                <a:spcPts val="600"/>
              </a:spcAft>
            </a:pPr>
            <a:r>
              <a:rPr sz="2600" b="1">
                <a:solidFill>
                  <a:srgbClr val="E8433A"/>
                </a:solidFill>
                <a:latin typeface="Arial"/>
              </a:rPr>
              <a:t>03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35508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5A6372"/>
                </a:solidFill>
                <a:latin typeface="Arial"/>
              </a:rPr>
              <a:t>КосмоХакатон 2026 · Красноярск · команда «вувузела без семена»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463040"/>
            <a:ext cx="109728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400"/>
              </a:spcAft>
            </a:pPr>
            <a:r>
              <a:rPr sz="1900" b="1">
                <a:solidFill>
                  <a:srgbClr val="E8433A"/>
                </a:solidFill>
                <a:latin typeface="Arial"/>
              </a:rPr>
              <a:t>•  </a:t>
            </a:r>
            <a:r>
              <a:rPr sz="1900" b="1">
                <a:solidFill>
                  <a:srgbClr val="141B2E"/>
                </a:solidFill>
                <a:latin typeface="Arial"/>
              </a:rPr>
              <a:t>Субпиксельный очаг.  </a:t>
            </a:r>
            <a:r>
              <a:rPr sz="1900" b="0">
                <a:solidFill>
                  <a:srgbClr val="141B2E"/>
                </a:solidFill>
                <a:latin typeface="Arial"/>
              </a:rPr>
              <a:t>Очаг в 3,6 % площади пикселя VIIRS поднимает канал I4 (3,74 мкм) на +237 K, а I5 — лишь на +52 K. Признак горения — пара «I4» и «I4 − I5», а не одиночный тепловой канал.</a:t>
            </a:r>
          </a:p>
          <a:p>
            <a:pPr algn="l">
              <a:spcAft>
                <a:spcPts val="1400"/>
              </a:spcAft>
            </a:pPr>
            <a:r>
              <a:rPr sz="1900" b="1">
                <a:solidFill>
                  <a:srgbClr val="E8433A"/>
                </a:solidFill>
                <a:latin typeface="Arial"/>
              </a:rPr>
              <a:t>•  </a:t>
            </a:r>
            <a:r>
              <a:rPr sz="1900" b="1">
                <a:solidFill>
                  <a:srgbClr val="141B2E"/>
                </a:solidFill>
                <a:latin typeface="Arial"/>
              </a:rPr>
              <a:t>Факел неотличим от пожара по одному снимку — </a:t>
            </a:r>
            <a:r>
              <a:rPr sz="1900" b="0">
                <a:solidFill>
                  <a:srgbClr val="141B2E"/>
                </a:solidFill>
                <a:latin typeface="Arial"/>
              </a:rPr>
              <a:t>он правда горит. Отсекаем по внешнему признаку: тип покрова (застройка) и обученная модель.</a:t>
            </a:r>
          </a:p>
          <a:p>
            <a:pPr algn="l">
              <a:spcAft>
                <a:spcPts val="1400"/>
              </a:spcAft>
            </a:pPr>
            <a:r>
              <a:rPr sz="1900" b="1">
                <a:solidFill>
                  <a:srgbClr val="E8433A"/>
                </a:solidFill>
                <a:latin typeface="Arial"/>
              </a:rPr>
              <a:t>•  </a:t>
            </a:r>
            <a:r>
              <a:rPr sz="1900" b="1">
                <a:solidFill>
                  <a:srgbClr val="141B2E"/>
                </a:solidFill>
                <a:latin typeface="Arial"/>
              </a:rPr>
              <a:t>Биомасса решает.  </a:t>
            </a:r>
            <a:r>
              <a:rPr sz="1900" b="0">
                <a:solidFill>
                  <a:srgbClr val="141B2E"/>
                </a:solidFill>
                <a:latin typeface="Arial"/>
              </a:rPr>
              <a:t>В степи её вдесятеро меньше, чем в лесу, и лесная шкала dNBR (USGS) там недостижима: «сильная» степень в степи ≠ «сильная» в сосняке. Пороги привязаны к типу покрова.</a:t>
            </a:r>
          </a:p>
          <a:p>
            <a:pPr algn="l">
              <a:spcAft>
                <a:spcPts val="1400"/>
              </a:spcAft>
            </a:pPr>
            <a:r>
              <a:rPr sz="1900" b="1">
                <a:solidFill>
                  <a:srgbClr val="E8433A"/>
                </a:solidFill>
                <a:latin typeface="Arial"/>
              </a:rPr>
              <a:t>•  </a:t>
            </a:r>
            <a:r>
              <a:rPr sz="1900" b="1">
                <a:solidFill>
                  <a:srgbClr val="141B2E"/>
                </a:solidFill>
                <a:latin typeface="Arial"/>
              </a:rPr>
              <a:t>Облачность, дым, пашня — </a:t>
            </a:r>
            <a:r>
              <a:rPr sz="1900" b="0">
                <a:solidFill>
                  <a:srgbClr val="141B2E"/>
                </a:solidFill>
                <a:latin typeface="Arial"/>
              </a:rPr>
              <a:t>источники ложных контуров; убранное поле спектрально похоже на гарь.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1B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E843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64592"/>
            <a:ext cx="1033272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2600" b="1">
                <a:solidFill>
                  <a:srgbClr val="FFFFFF"/>
                </a:solidFill>
                <a:latin typeface="Arial"/>
              </a:rPr>
              <a:t>Схема решения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164592"/>
            <a:ext cx="8229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spcAft>
                <a:spcPts val="600"/>
              </a:spcAft>
            </a:pPr>
            <a:r>
              <a:rPr sz="2600" b="1">
                <a:solidFill>
                  <a:srgbClr val="E8433A"/>
                </a:solidFill>
                <a:latin typeface="Arial"/>
              </a:rPr>
              <a:t>04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35508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5A6372"/>
                </a:solidFill>
                <a:latin typeface="Arial"/>
              </a:rPr>
              <a:t>КосмоХакатон 2026 · Красноярск · команда «вувузела без семена»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463040"/>
            <a:ext cx="2743200" cy="1188720"/>
          </a:xfrm>
          <a:prstGeom prst="rect">
            <a:avLst/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554480"/>
            <a:ext cx="2560320" cy="10058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141B2E"/>
                </a:solidFill>
                <a:latin typeface="Arial"/>
              </a:rPr>
              <a:t>AF-чип VIIRS I1–I5</a:t>
            </a:r>
          </a:p>
          <a:p>
            <a:pPr algn="l">
              <a:spcAft>
                <a:spcPts val="600"/>
              </a:spcAft>
            </a:pPr>
            <a:r>
              <a:rPr sz="1200" b="0">
                <a:solidFill>
                  <a:srgbClr val="5A6372"/>
                </a:solidFill>
                <a:latin typeface="Arial"/>
              </a:rPr>
              <a:t>+ покров, рельеф, метео</a:t>
            </a:r>
          </a:p>
        </p:txBody>
      </p:sp>
      <p:sp>
        <p:nvSpPr>
          <p:cNvPr id="9" name="Rectangle 8"/>
          <p:cNvSpPr/>
          <p:nvPr/>
        </p:nvSpPr>
        <p:spPr>
          <a:xfrm>
            <a:off x="3566160" y="1463040"/>
            <a:ext cx="2468880" cy="1188720"/>
          </a:xfrm>
          <a:prstGeom prst="rect">
            <a:avLst/>
          </a:prstGeom>
          <a:solidFill>
            <a:srgbClr val="2E6C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Кандидаты + контекст</a:t>
            </a:r>
          </a:p>
          <a:p>
            <a:pPr algn="ctr">
              <a:spcAft>
                <a:spcPts val="600"/>
              </a:spcAft>
            </a:pPr>
            <a:r>
              <a:rPr sz="1100" b="0">
                <a:solidFill>
                  <a:srgbClr val="FFFFFF"/>
                </a:solidFill>
                <a:latin typeface="Arial"/>
              </a:rPr>
              <a:t>отбраковка ложных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17920" y="1463040"/>
            <a:ext cx="2377440" cy="1188720"/>
          </a:xfrm>
          <a:prstGeom prst="rect">
            <a:avLst/>
          </a:prstGeom>
          <a:solidFill>
            <a:srgbClr val="5A63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Модель AF</a:t>
            </a:r>
          </a:p>
          <a:p>
            <a:pPr algn="ctr">
              <a:spcAft>
                <a:spcPts val="600"/>
              </a:spcAft>
            </a:pPr>
            <a:r>
              <a:rPr sz="1100" b="0">
                <a:solidFill>
                  <a:srgbClr val="FFFFFF"/>
                </a:solidFill>
                <a:latin typeface="Arial"/>
              </a:rPr>
              <a:t>бустинг на кандидатах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778240" y="1463040"/>
            <a:ext cx="2743200" cy="1188720"/>
          </a:xfrm>
          <a:prstGeom prst="rect">
            <a:avLst/>
          </a:prstGeom>
          <a:solidFill>
            <a:srgbClr val="1FA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Бинарная маска 0/1</a:t>
            </a:r>
          </a:p>
          <a:p>
            <a:pPr algn="ctr">
              <a:spcAft>
                <a:spcPts val="600"/>
              </a:spcAft>
            </a:pPr>
            <a:r>
              <a:rPr sz="1100" b="0">
                <a:solidFill>
                  <a:srgbClr val="FFFFFF"/>
                </a:solidFill>
                <a:latin typeface="Arial"/>
              </a:rPr>
              <a:t>F1_af = 0.94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3063240"/>
            <a:ext cx="2560320" cy="10058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141B2E"/>
                </a:solidFill>
                <a:latin typeface="Arial"/>
              </a:rPr>
              <a:t>BS-чип S2 до/после</a:t>
            </a:r>
          </a:p>
          <a:p>
            <a:pPr algn="l">
              <a:spcAft>
                <a:spcPts val="600"/>
              </a:spcAft>
            </a:pPr>
            <a:r>
              <a:rPr sz="1200" b="0">
                <a:solidFill>
                  <a:srgbClr val="5A6372"/>
                </a:solidFill>
                <a:latin typeface="Arial"/>
              </a:rPr>
              <a:t>+ S1 VV/VH, рельеф, покров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" y="2971800"/>
            <a:ext cx="2743200" cy="1188720"/>
          </a:xfrm>
          <a:prstGeom prst="rect">
            <a:avLst/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20" y="3063240"/>
            <a:ext cx="2560320" cy="10058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141B2E"/>
                </a:solidFill>
                <a:latin typeface="Arial"/>
              </a:rPr>
              <a:t>BS-чип S2 до/после</a:t>
            </a:r>
          </a:p>
          <a:p>
            <a:pPr algn="l">
              <a:spcAft>
                <a:spcPts val="600"/>
              </a:spcAft>
            </a:pPr>
            <a:r>
              <a:rPr sz="1200" b="0">
                <a:solidFill>
                  <a:srgbClr val="5A6372"/>
                </a:solidFill>
                <a:latin typeface="Arial"/>
              </a:rPr>
              <a:t>+ S1 VV/VH, рельеф, покров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566160" y="2971800"/>
            <a:ext cx="2468880" cy="1188720"/>
          </a:xfrm>
          <a:prstGeom prst="rect">
            <a:avLst/>
          </a:prstGeom>
          <a:solidFill>
            <a:srgbClr val="E843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dNBR/RdNBR по покрову</a:t>
            </a:r>
          </a:p>
          <a:p>
            <a:pPr algn="ctr">
              <a:spcAft>
                <a:spcPts val="600"/>
              </a:spcAft>
            </a:pPr>
            <a:r>
              <a:rPr sz="1100" b="0">
                <a:solidFill>
                  <a:srgbClr val="FFFFFF"/>
                </a:solidFill>
                <a:latin typeface="Arial"/>
              </a:rPr>
              <a:t>SCL, SAR под облаком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217920" y="2971800"/>
            <a:ext cx="2377440" cy="1188720"/>
          </a:xfrm>
          <a:prstGeom prst="rect">
            <a:avLst/>
          </a:prstGeom>
          <a:solidFill>
            <a:srgbClr val="5A63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Модель BS</a:t>
            </a:r>
          </a:p>
          <a:p>
            <a:pPr algn="ctr">
              <a:spcAft>
                <a:spcPts val="600"/>
              </a:spcAft>
            </a:pPr>
            <a:r>
              <a:rPr sz="1100" b="0">
                <a:solidFill>
                  <a:srgbClr val="FFFFFF"/>
                </a:solidFill>
                <a:latin typeface="Arial"/>
              </a:rPr>
              <a:t>4 класса на спорных px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778240" y="2971800"/>
            <a:ext cx="2743200" cy="1188720"/>
          </a:xfrm>
          <a:prstGeom prst="rect">
            <a:avLst/>
          </a:prstGeom>
          <a:solidFill>
            <a:srgbClr val="1FA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Маска 0–3</a:t>
            </a:r>
          </a:p>
          <a:p>
            <a:pPr algn="ctr">
              <a:spcAft>
                <a:spcPts val="600"/>
              </a:spcAft>
            </a:pPr>
            <a:r>
              <a:rPr sz="1100" b="0">
                <a:solidFill>
                  <a:srgbClr val="FFFFFF"/>
                </a:solidFill>
                <a:latin typeface="Arial"/>
              </a:rPr>
              <a:t>mIoU_sev = 0.61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566160" y="4572000"/>
            <a:ext cx="5029200" cy="914400"/>
          </a:xfrm>
          <a:prstGeom prst="rect">
            <a:avLst/>
          </a:prstGeom>
          <a:solidFill>
            <a:srgbClr val="141B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RLE → submission.csv → сервис (карта, GeoJSON, справка)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557784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5A6372"/>
                </a:solidFill>
                <a:latin typeface="Arial"/>
              </a:rPr>
              <a:t>Одна функция признаков на обучение и инференс — рассинхронизации train/serving нет по построению.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1B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E843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64592"/>
            <a:ext cx="1033272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2600" b="1">
                <a:solidFill>
                  <a:srgbClr val="FFFFFF"/>
                </a:solidFill>
                <a:latin typeface="Arial"/>
              </a:rPr>
              <a:t>Модуль 1: четыре источника ложных срабатываний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164592"/>
            <a:ext cx="8229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spcAft>
                <a:spcPts val="600"/>
              </a:spcAft>
            </a:pPr>
            <a:r>
              <a:rPr sz="2600" b="1">
                <a:solidFill>
                  <a:srgbClr val="E8433A"/>
                </a:solidFill>
                <a:latin typeface="Arial"/>
              </a:rPr>
              <a:t>05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35508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5A6372"/>
                </a:solidFill>
                <a:latin typeface="Arial"/>
              </a:rPr>
              <a:t>КосмоХакатон 2026 · Красноярск · команда «вувузела без семена»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463040"/>
            <a:ext cx="10972800" cy="548640"/>
          </a:xfrm>
          <a:prstGeom prst="rect">
            <a:avLst/>
          </a:prstGeom>
          <a:solidFill>
            <a:srgbClr val="141B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517904"/>
            <a:ext cx="320040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Источник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0" y="1517904"/>
            <a:ext cx="356616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FFFFFF"/>
                </a:solidFill>
                <a:latin typeface="Arial"/>
              </a:rPr>
              <a:t>Признак самого снимка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0" y="1517904"/>
            <a:ext cx="384048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Как отсекаем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" y="2011680"/>
            <a:ext cx="10972800" cy="868680"/>
          </a:xfrm>
          <a:prstGeom prst="rect">
            <a:avLst/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2066544"/>
            <a:ext cx="320040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E8433A"/>
                </a:solidFill>
                <a:latin typeface="Arial"/>
              </a:rPr>
              <a:t>Факел, печь, промплощадка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114800" y="2066544"/>
            <a:ext cx="356616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141B2E"/>
                </a:solidFill>
                <a:latin typeface="Arial"/>
              </a:rPr>
              <a:t>горит постоянно, тепловой тест бесполезен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0" y="2066544"/>
            <a:ext cx="384048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141B2E"/>
                </a:solidFill>
                <a:latin typeface="Arial"/>
              </a:rPr>
              <a:t>тип покрова (застройка) + модель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0080" y="2907792"/>
            <a:ext cx="10972800" cy="8686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77240" y="2962656"/>
            <a:ext cx="320040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E8433A"/>
                </a:solidFill>
                <a:latin typeface="Arial"/>
              </a:rPr>
              <a:t>Солнечный блик: вода, теплицы, кровли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114800" y="2962656"/>
            <a:ext cx="356616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141B2E"/>
                </a:solidFill>
                <a:latin typeface="Arial"/>
              </a:rPr>
              <a:t>высокое SWIR-отражение (канал I3)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400" y="2962656"/>
            <a:ext cx="384048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141B2E"/>
                </a:solidFill>
                <a:latin typeface="Arial"/>
              </a:rPr>
              <a:t>порог по I3 в дневных сценах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40080" y="3803904"/>
            <a:ext cx="10972800" cy="868680"/>
          </a:xfrm>
          <a:prstGeom prst="rect">
            <a:avLst/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7240" y="3858768"/>
            <a:ext cx="320040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E8433A"/>
                </a:solidFill>
                <a:latin typeface="Arial"/>
              </a:rPr>
              <a:t>Вода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114800" y="3858768"/>
            <a:ext cx="356616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141B2E"/>
                </a:solidFill>
                <a:latin typeface="Arial"/>
              </a:rPr>
              <a:t>отрицательный NDVI при низком NIR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72400" y="3858768"/>
            <a:ext cx="384048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141B2E"/>
                </a:solidFill>
                <a:latin typeface="Arial"/>
              </a:rPr>
              <a:t>порог NDVI + I2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40080" y="4700016"/>
            <a:ext cx="10972800" cy="8686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77240" y="4754880"/>
            <a:ext cx="320040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E8433A"/>
                </a:solidFill>
                <a:latin typeface="Arial"/>
              </a:rPr>
              <a:t>Край облака, дымовой шлейф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114800" y="4754880"/>
            <a:ext cx="356616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141B2E"/>
                </a:solidFill>
                <a:latin typeface="Arial"/>
              </a:rPr>
              <a:t>неоднородный фон в окне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772400" y="4754880"/>
            <a:ext cx="384048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141B2E"/>
                </a:solidFill>
                <a:latin typeface="Arial"/>
              </a:rPr>
              <a:t>разброс dT; яркий видимый + низкий dT = облако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1B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E843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64592"/>
            <a:ext cx="1033272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2600" b="1">
                <a:solidFill>
                  <a:srgbClr val="FFFFFF"/>
                </a:solidFill>
                <a:latin typeface="Arial"/>
              </a:rPr>
              <a:t>Модуль 2: пороги dNBR, привязанные к покрову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164592"/>
            <a:ext cx="8229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spcAft>
                <a:spcPts val="600"/>
              </a:spcAft>
            </a:pPr>
            <a:r>
              <a:rPr sz="2600" b="1">
                <a:solidFill>
                  <a:srgbClr val="E8433A"/>
                </a:solidFill>
                <a:latin typeface="Arial"/>
              </a:rPr>
              <a:t>06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35508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5A6372"/>
                </a:solidFill>
                <a:latin typeface="Arial"/>
              </a:rPr>
              <a:t>КосмоХакатон 2026 · Красноярск · команда «вувузела без семена»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716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0">
                <a:solidFill>
                  <a:srgbClr val="141B2E"/>
                </a:solidFill>
                <a:latin typeface="Arial"/>
              </a:rPr>
              <a:t>Пороги </a:t>
            </a:r>
            <a:r>
              <a:rPr sz="1700" b="1">
                <a:solidFill>
                  <a:srgbClr val="141B2E"/>
                </a:solidFill>
                <a:latin typeface="Arial"/>
              </a:rPr>
              <a:t>откалиброваны по факту размеченных гарей</a:t>
            </a:r>
            <a:r>
              <a:rPr sz="1700" b="0">
                <a:solidFill>
                  <a:srgbClr val="141B2E"/>
                </a:solidFill>
                <a:latin typeface="Arial"/>
              </a:rPr>
              <a:t> (train.py --calibrate-thresholds), а не взяты из шкалы USGS: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2148840"/>
            <a:ext cx="10972800" cy="548640"/>
          </a:xfrm>
          <a:prstGeom prst="rect">
            <a:avLst/>
          </a:prstGeom>
          <a:solidFill>
            <a:srgbClr val="141B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2185416"/>
            <a:ext cx="41148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Тип покрова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937760" y="2185416"/>
            <a:ext cx="210312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t1 (слабая)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132320" y="2185416"/>
            <a:ext cx="210312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t2 (средняя)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326880" y="2185416"/>
            <a:ext cx="210312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t3 (сильная)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" y="2715768"/>
            <a:ext cx="10972800" cy="548640"/>
          </a:xfrm>
          <a:prstGeom prst="rect">
            <a:avLst/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" y="2752344"/>
            <a:ext cx="41148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141B2E"/>
                </a:solidFill>
                <a:latin typeface="Arial"/>
              </a:rPr>
              <a:t>Лес, кустарник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937760" y="2752344"/>
            <a:ext cx="210312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600"/>
              </a:spcAft>
            </a:pPr>
            <a:r>
              <a:rPr sz="1400" b="0">
                <a:solidFill>
                  <a:srgbClr val="141B2E"/>
                </a:solidFill>
                <a:latin typeface="Arial"/>
              </a:rPr>
              <a:t>0.176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32320" y="2752344"/>
            <a:ext cx="210312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600"/>
              </a:spcAft>
            </a:pPr>
            <a:r>
              <a:rPr sz="1400" b="0">
                <a:solidFill>
                  <a:srgbClr val="141B2E"/>
                </a:solidFill>
                <a:latin typeface="Arial"/>
              </a:rPr>
              <a:t>0.311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326880" y="2752344"/>
            <a:ext cx="210312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600"/>
              </a:spcAft>
            </a:pPr>
            <a:r>
              <a:rPr sz="1400" b="0">
                <a:solidFill>
                  <a:srgbClr val="141B2E"/>
                </a:solidFill>
                <a:latin typeface="Arial"/>
              </a:rPr>
              <a:t>0.567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40080" y="3282696"/>
            <a:ext cx="10972800" cy="5486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77240" y="3319272"/>
            <a:ext cx="41148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141B2E"/>
                </a:solidFill>
                <a:latin typeface="Arial"/>
              </a:rPr>
              <a:t>Травяной покров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937760" y="3319272"/>
            <a:ext cx="210312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600"/>
              </a:spcAft>
            </a:pPr>
            <a:r>
              <a:rPr sz="1400" b="0">
                <a:solidFill>
                  <a:srgbClr val="141B2E"/>
                </a:solidFill>
                <a:latin typeface="Arial"/>
              </a:rPr>
              <a:t>0.170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132320" y="3319272"/>
            <a:ext cx="210312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600"/>
              </a:spcAft>
            </a:pPr>
            <a:r>
              <a:rPr sz="1400" b="0">
                <a:solidFill>
                  <a:srgbClr val="141B2E"/>
                </a:solidFill>
                <a:latin typeface="Arial"/>
              </a:rPr>
              <a:t>0.234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326880" y="3319272"/>
            <a:ext cx="210312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600"/>
              </a:spcAft>
            </a:pPr>
            <a:r>
              <a:rPr sz="1400" b="0">
                <a:solidFill>
                  <a:srgbClr val="141B2E"/>
                </a:solidFill>
                <a:latin typeface="Arial"/>
              </a:rPr>
              <a:t>0.408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40080" y="3849624"/>
            <a:ext cx="10972800" cy="548640"/>
          </a:xfrm>
          <a:prstGeom prst="rect">
            <a:avLst/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77240" y="3886200"/>
            <a:ext cx="41148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141B2E"/>
                </a:solidFill>
                <a:latin typeface="Arial"/>
              </a:rPr>
              <a:t>Болото, пойма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937760" y="3886200"/>
            <a:ext cx="210312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600"/>
              </a:spcAft>
            </a:pPr>
            <a:r>
              <a:rPr sz="1400" b="0">
                <a:solidFill>
                  <a:srgbClr val="141B2E"/>
                </a:solidFill>
                <a:latin typeface="Arial"/>
              </a:rPr>
              <a:t>0.182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32320" y="3886200"/>
            <a:ext cx="210312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600"/>
              </a:spcAft>
            </a:pPr>
            <a:r>
              <a:rPr sz="1400" b="0">
                <a:solidFill>
                  <a:srgbClr val="141B2E"/>
                </a:solidFill>
                <a:latin typeface="Arial"/>
              </a:rPr>
              <a:t>0.359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326880" y="3886200"/>
            <a:ext cx="210312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600"/>
              </a:spcAft>
            </a:pPr>
            <a:r>
              <a:rPr sz="1400" b="0">
                <a:solidFill>
                  <a:srgbClr val="141B2E"/>
                </a:solidFill>
                <a:latin typeface="Arial"/>
              </a:rPr>
              <a:t>0.641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40080" y="4416552"/>
            <a:ext cx="10972800" cy="5486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77240" y="4453128"/>
            <a:ext cx="41148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141B2E"/>
                </a:solidFill>
                <a:latin typeface="Arial"/>
              </a:rPr>
              <a:t>Пашня (шкала постановки*)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937760" y="4453128"/>
            <a:ext cx="210312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600"/>
              </a:spcAft>
            </a:pPr>
            <a:r>
              <a:rPr sz="1400" b="0">
                <a:solidFill>
                  <a:srgbClr val="141B2E"/>
                </a:solidFill>
                <a:latin typeface="Arial"/>
              </a:rPr>
              <a:t>0.070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132320" y="4453128"/>
            <a:ext cx="210312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600"/>
              </a:spcAft>
            </a:pPr>
            <a:r>
              <a:rPr sz="1400" b="0">
                <a:solidFill>
                  <a:srgbClr val="141B2E"/>
                </a:solidFill>
                <a:latin typeface="Arial"/>
              </a:rPr>
              <a:t>0.177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326880" y="4453128"/>
            <a:ext cx="210312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600"/>
              </a:spcAft>
            </a:pPr>
            <a:r>
              <a:rPr sz="1400" b="0">
                <a:solidFill>
                  <a:srgbClr val="141B2E"/>
                </a:solidFill>
                <a:latin typeface="Arial"/>
              </a:rPr>
              <a:t>0.380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0080" y="512064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300" b="1">
                <a:solidFill>
                  <a:srgbClr val="E8433A"/>
                </a:solidFill>
                <a:latin typeface="Arial"/>
              </a:rPr>
              <a:t>*  </a:t>
            </a:r>
            <a:r>
              <a:rPr sz="1300" b="0">
                <a:solidFill>
                  <a:srgbClr val="5A6372"/>
                </a:solidFill>
                <a:latin typeface="Arial"/>
              </a:rPr>
              <a:t>На пашне калибровка дала немонотонные пороги — оставлено значение постановки. Подтверждение контура: падение NDVI и наличие биомассы до пожара; на пашне требования строже.</a:t>
            </a:r>
          </a:p>
          <a:p>
            <a:pPr algn="l">
              <a:spcAft>
                <a:spcPts val="800"/>
              </a:spcAft>
            </a:pPr>
            <a:r>
              <a:rPr sz="1300" b="0">
                <a:solidFill>
                  <a:srgbClr val="5A6372"/>
                </a:solidFill>
                <a:latin typeface="Arial"/>
              </a:rPr>
              <a:t>Под облаком (SCL) контур восстанавливается по падению Sentinel-1 VH — пиксели не выбрасываются из ответа.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1B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E843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64592"/>
            <a:ext cx="1033272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2600" b="1">
                <a:solidFill>
                  <a:srgbClr val="FFFFFF"/>
                </a:solidFill>
                <a:latin typeface="Arial"/>
              </a:rPr>
              <a:t>Главный результат на реальных данных: решение сдаётся с моделью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164592"/>
            <a:ext cx="8229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spcAft>
                <a:spcPts val="600"/>
              </a:spcAft>
            </a:pPr>
            <a:r>
              <a:rPr sz="2600" b="1">
                <a:solidFill>
                  <a:srgbClr val="E8433A"/>
                </a:solidFill>
                <a:latin typeface="Arial"/>
              </a:rPr>
              <a:t>07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35508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5A6372"/>
                </a:solidFill>
                <a:latin typeface="Arial"/>
              </a:rPr>
              <a:t>КосмоХакатон 2026 · Красноярск · команда «вувузела без семена»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463040"/>
            <a:ext cx="10972800" cy="640080"/>
          </a:xfrm>
          <a:prstGeom prst="rect">
            <a:avLst/>
          </a:prstGeom>
          <a:solidFill>
            <a:srgbClr val="141B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517904"/>
            <a:ext cx="393192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Режим (train)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0" y="1517904"/>
            <a:ext cx="164592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Score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92240" y="1517904"/>
            <a:ext cx="164592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F1_af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0" y="1517904"/>
            <a:ext cx="164592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IoU_burn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966959" y="1517904"/>
            <a:ext cx="164592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mIoU_sev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" y="2121408"/>
            <a:ext cx="10972800" cy="640080"/>
          </a:xfrm>
          <a:prstGeom prst="rect">
            <a:avLst/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" y="2176272"/>
            <a:ext cx="393192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141B2E"/>
                </a:solidFill>
                <a:latin typeface="Arial"/>
              </a:rPr>
              <a:t>Только правила и пороги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54880" y="2176272"/>
            <a:ext cx="164592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600"/>
              </a:spcAft>
            </a:pPr>
            <a:r>
              <a:rPr sz="1500" b="0">
                <a:solidFill>
                  <a:srgbClr val="141B2E"/>
                </a:solidFill>
                <a:latin typeface="Arial"/>
              </a:rPr>
              <a:t>0.174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92240" y="2176272"/>
            <a:ext cx="164592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600"/>
              </a:spcAft>
            </a:pPr>
            <a:r>
              <a:rPr sz="1500" b="0">
                <a:solidFill>
                  <a:srgbClr val="141B2E"/>
                </a:solidFill>
                <a:latin typeface="Arial"/>
              </a:rPr>
              <a:t>0.105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0" y="2176272"/>
            <a:ext cx="164592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600"/>
              </a:spcAft>
            </a:pPr>
            <a:r>
              <a:rPr sz="1500" b="0">
                <a:solidFill>
                  <a:srgbClr val="141B2E"/>
                </a:solidFill>
                <a:latin typeface="Arial"/>
              </a:rPr>
              <a:t>0.193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966959" y="2176272"/>
            <a:ext cx="164592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600"/>
              </a:spcAft>
            </a:pPr>
            <a:r>
              <a:rPr sz="1500" b="0">
                <a:solidFill>
                  <a:srgbClr val="141B2E"/>
                </a:solidFill>
                <a:latin typeface="Arial"/>
              </a:rPr>
              <a:t>0.233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40080" y="2779776"/>
            <a:ext cx="10972800" cy="640080"/>
          </a:xfrm>
          <a:prstGeom prst="rect">
            <a:avLst/>
          </a:prstGeom>
          <a:solidFill>
            <a:srgbClr val="1FA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7240" y="2834640"/>
            <a:ext cx="393192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С обученной моделью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754880" y="2834640"/>
            <a:ext cx="164592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0.711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92240" y="2834640"/>
            <a:ext cx="164592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0.940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9600" y="2834640"/>
            <a:ext cx="164592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0.572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966959" y="2834640"/>
            <a:ext cx="164592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0.606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" y="3703320"/>
            <a:ext cx="1097280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600" b="1">
                <a:solidFill>
                  <a:srgbClr val="E8433A"/>
                </a:solidFill>
                <a:latin typeface="Arial"/>
              </a:rPr>
              <a:t>•  </a:t>
            </a:r>
            <a:r>
              <a:rPr sz="1600" b="1">
                <a:solidFill>
                  <a:srgbClr val="E8433A"/>
                </a:solidFill>
                <a:latin typeface="Arial"/>
              </a:rPr>
              <a:t>Неожиданное открытие: </a:t>
            </a:r>
            <a:r>
              <a:rPr sz="1600" b="0">
                <a:solidFill>
                  <a:srgbClr val="141B2E"/>
                </a:solidFill>
                <a:latin typeface="Arial"/>
              </a:rPr>
              <a:t>контекстный тест модуля 1, полезный на синтетике, на реальном шумном фоне режет F1_af впятеро (0.59 → 0.10) — модель это снимает, обучаясь на кандидатах напрямую.</a:t>
            </a:r>
          </a:p>
          <a:p>
            <a:pPr algn="l">
              <a:spcAft>
                <a:spcPts val="1000"/>
              </a:spcAft>
            </a:pPr>
            <a:r>
              <a:rPr sz="1600" b="1">
                <a:solidFill>
                  <a:srgbClr val="E8433A"/>
                </a:solidFill>
                <a:latin typeface="Arial"/>
              </a:rPr>
              <a:t>•  </a:t>
            </a:r>
            <a:r>
              <a:rPr sz="1600" b="1">
                <a:solidFill>
                  <a:srgbClr val="141B2E"/>
                </a:solidFill>
                <a:latin typeface="Arial"/>
              </a:rPr>
              <a:t>Precision AF: </a:t>
            </a:r>
            <a:r>
              <a:rPr sz="1600" b="0">
                <a:solidFill>
                  <a:srgbClr val="141B2E"/>
                </a:solidFill>
                <a:latin typeface="Arial"/>
              </a:rPr>
              <a:t>0.055 на правилах → 0.901 с моделью при полноте 0.98. Именно точность даёт основной вклад при микро-усреднении.</a:t>
            </a:r>
          </a:p>
          <a:p>
            <a:pPr algn="l">
              <a:spcAft>
                <a:spcPts val="1000"/>
              </a:spcAft>
            </a:pPr>
            <a:r>
              <a:rPr sz="1600" b="1">
                <a:solidFill>
                  <a:srgbClr val="E8433A"/>
                </a:solidFill>
                <a:latin typeface="Arial"/>
              </a:rPr>
              <a:t>•  </a:t>
            </a:r>
            <a:r>
              <a:rPr sz="1600" b="1">
                <a:solidFill>
                  <a:srgbClr val="141B2E"/>
                </a:solidFill>
                <a:latin typeface="Arial"/>
              </a:rPr>
              <a:t>Шкала dNBR по покрову и SAR под облаком </a:t>
            </a:r>
            <a:r>
              <a:rPr sz="1600" b="0">
                <a:solidFill>
                  <a:srgbClr val="141B2E"/>
                </a:solidFill>
                <a:latin typeface="Arial"/>
              </a:rPr>
              <a:t>подтвердили полезность и на реальных данных (абляции в отчёте, раздел 6).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1B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E843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64592"/>
            <a:ext cx="1033272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2600" b="1">
                <a:solidFill>
                  <a:srgbClr val="FFFFFF"/>
                </a:solidFill>
                <a:latin typeface="Arial"/>
              </a:rPr>
              <a:t>Результаты и скорость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164592"/>
            <a:ext cx="8229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spcAft>
                <a:spcPts val="600"/>
              </a:spcAft>
            </a:pPr>
            <a:r>
              <a:rPr sz="2600" b="1">
                <a:solidFill>
                  <a:srgbClr val="E8433A"/>
                </a:solidFill>
                <a:latin typeface="Arial"/>
              </a:rPr>
              <a:t>08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35508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5A6372"/>
                </a:solidFill>
                <a:latin typeface="Arial"/>
              </a:rPr>
              <a:t>КосмоХакатон 2026 · Красноярск · команда «вувузела без семена»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554480"/>
            <a:ext cx="2834640" cy="2194560"/>
          </a:xfrm>
          <a:prstGeom prst="rect">
            <a:avLst/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" y="1554480"/>
            <a:ext cx="2834640" cy="109728"/>
          </a:xfrm>
          <a:prstGeom prst="rect">
            <a:avLst/>
          </a:prstGeom>
          <a:solidFill>
            <a:srgbClr val="1FA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59" y="1828800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5A6372"/>
                </a:solidFill>
                <a:latin typeface="Arial"/>
              </a:rPr>
              <a:t>Score (train)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59" y="2240280"/>
            <a:ext cx="24688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4400" b="1">
                <a:solidFill>
                  <a:srgbClr val="1FA66E"/>
                </a:solidFill>
                <a:latin typeface="Arial"/>
              </a:rPr>
              <a:t>0.71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59" y="3200400"/>
            <a:ext cx="2468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141B2E"/>
                </a:solidFill>
                <a:latin typeface="Arial"/>
              </a:rPr>
              <a:t>0.35·F1 + 0.35·IoU + 0.30·mIoU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794760" y="1554480"/>
            <a:ext cx="2834640" cy="2194560"/>
          </a:xfrm>
          <a:prstGeom prst="rect">
            <a:avLst/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794760" y="1554480"/>
            <a:ext cx="2834640" cy="109728"/>
          </a:xfrm>
          <a:prstGeom prst="rect">
            <a:avLst/>
          </a:prstGeom>
          <a:solidFill>
            <a:srgbClr val="2E6C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977640" y="1828800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5A6372"/>
                </a:solidFill>
                <a:latin typeface="Arial"/>
              </a:rPr>
              <a:t>F1_af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977640" y="2240280"/>
            <a:ext cx="24688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4400" b="1">
                <a:solidFill>
                  <a:srgbClr val="2E6CE8"/>
                </a:solidFill>
                <a:latin typeface="Arial"/>
              </a:rPr>
              <a:t>0.94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977640" y="3200400"/>
            <a:ext cx="2468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141B2E"/>
                </a:solidFill>
                <a:latin typeface="Arial"/>
              </a:rPr>
              <a:t>precision 0.90 · recall 0.98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949440" y="1554480"/>
            <a:ext cx="2834640" cy="2194560"/>
          </a:xfrm>
          <a:prstGeom prst="rect">
            <a:avLst/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949440" y="1554480"/>
            <a:ext cx="2834640" cy="109728"/>
          </a:xfrm>
          <a:prstGeom prst="rect">
            <a:avLst/>
          </a:prstGeom>
          <a:solidFill>
            <a:srgbClr val="E843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132320" y="1828800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5A6372"/>
                </a:solidFill>
                <a:latin typeface="Arial"/>
              </a:rPr>
              <a:t>Инференс теста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132320" y="2240280"/>
            <a:ext cx="24688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4400" b="1">
                <a:solidFill>
                  <a:srgbClr val="E8433A"/>
                </a:solidFill>
                <a:latin typeface="Arial"/>
              </a:rPr>
              <a:t>50 с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132320" y="3200400"/>
            <a:ext cx="2468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141B2E"/>
                </a:solidFill>
                <a:latin typeface="Arial"/>
              </a:rPr>
              <a:t>269 чипов, 447 строк, 12 ядер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921240" y="1554480"/>
            <a:ext cx="1600200" cy="2194560"/>
          </a:xfrm>
          <a:prstGeom prst="rect">
            <a:avLst/>
          </a:prstGeom>
          <a:solidFill>
            <a:srgbClr val="141B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058400" y="1828800"/>
            <a:ext cx="1371600" cy="1828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submission.csv</a:t>
            </a:r>
          </a:p>
          <a:p>
            <a:pPr algn="l">
              <a:spcAft>
                <a:spcPts val="600"/>
              </a:spcAft>
            </a:pPr>
            <a:r>
              <a:rPr sz="1200" b="0">
                <a:solidFill>
                  <a:srgbClr val="C6CDDA"/>
                </a:solidFill>
                <a:latin typeface="Arial"/>
              </a:rPr>
              <a:t>валиден</a:t>
            </a:r>
          </a:p>
          <a:p>
            <a:pPr algn="l">
              <a:spcAft>
                <a:spcPts val="600"/>
              </a:spcAft>
            </a:pPr>
            <a:r>
              <a:rPr sz="1200" b="0">
                <a:solidFill>
                  <a:srgbClr val="C6CDDA"/>
                </a:solidFill>
                <a:latin typeface="Arial"/>
              </a:rPr>
              <a:t>447 строк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" y="4114800"/>
            <a:ext cx="109728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600" b="1">
                <a:solidFill>
                  <a:srgbClr val="E8433A"/>
                </a:solidFill>
                <a:latin typeface="Arial"/>
              </a:rPr>
              <a:t>•  </a:t>
            </a:r>
            <a:r>
              <a:rPr sz="1600" b="1">
                <a:solidFill>
                  <a:srgbClr val="141B2E"/>
                </a:solidFill>
                <a:latin typeface="Arial"/>
              </a:rPr>
              <a:t>Скорость — градация «до 5 минут» (6/8 баллов). </a:t>
            </a:r>
            <a:r>
              <a:rPr sz="1600" b="0">
                <a:solidFill>
                  <a:srgbClr val="141B2E"/>
                </a:solidFill>
                <a:latin typeface="Arial"/>
              </a:rPr>
              <a:t>Три решения: контекстная статистика скользящими суммами, вызов модели только на спорных пикселях, параллелизм процессами по чипам при ограничении потоков BLAS/OpenMP.</a:t>
            </a:r>
          </a:p>
          <a:p>
            <a:pPr algn="l">
              <a:spcAft>
                <a:spcPts val="1000"/>
              </a:spcAft>
            </a:pPr>
            <a:r>
              <a:rPr sz="1600" b="1">
                <a:solidFill>
                  <a:srgbClr val="E8433A"/>
                </a:solidFill>
                <a:latin typeface="Arial"/>
              </a:rPr>
              <a:t>•  </a:t>
            </a:r>
            <a:r>
              <a:rPr sz="1600" b="1">
                <a:solidFill>
                  <a:srgbClr val="141B2E"/>
                </a:solidFill>
                <a:latin typeface="Arial"/>
              </a:rPr>
              <a:t>Детерминированность: </a:t>
            </a:r>
            <a:r>
              <a:rPr sz="1600" b="0">
                <a:solidFill>
                  <a:srgbClr val="141B2E"/>
                </a:solidFill>
                <a:latin typeface="Arial"/>
              </a:rPr>
              <a:t>повторный запуск даёт побайтово тот же файл; веса воспроизводятся из train.py с фиксированным seed.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1B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E843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64592"/>
            <a:ext cx="1033272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2600" b="1">
                <a:solidFill>
                  <a:srgbClr val="FFFFFF"/>
                </a:solidFill>
                <a:latin typeface="Arial"/>
              </a:rPr>
              <a:t>Информационно-аналитический сервис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164592"/>
            <a:ext cx="8229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spcAft>
                <a:spcPts val="600"/>
              </a:spcAft>
            </a:pPr>
            <a:r>
              <a:rPr sz="2600" b="1">
                <a:solidFill>
                  <a:srgbClr val="E8433A"/>
                </a:solidFill>
                <a:latin typeface="Arial"/>
              </a:rPr>
              <a:t>09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35508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5A6372"/>
                </a:solidFill>
                <a:latin typeface="Arial"/>
              </a:rPr>
              <a:t>КосмоХакатон 2026 · Красноярск · команда «вувузела без семена»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463040"/>
            <a:ext cx="54864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0"/>
              </a:spcAft>
            </a:pPr>
            <a:r>
              <a:rPr sz="1700" b="1">
                <a:solidFill>
                  <a:srgbClr val="E8433A"/>
                </a:solidFill>
                <a:latin typeface="Arial"/>
              </a:rPr>
              <a:t>•  </a:t>
            </a:r>
            <a:r>
              <a:rPr sz="1700" b="1">
                <a:solidFill>
                  <a:srgbClr val="141B2E"/>
                </a:solidFill>
                <a:latin typeface="Arial"/>
              </a:rPr>
              <a:t>REST API + веб-карта.  </a:t>
            </a:r>
            <a:r>
              <a:rPr sz="1700" b="0">
                <a:solidFill>
                  <a:srgbClr val="141B2E"/>
                </a:solidFill>
                <a:latin typeface="Arial"/>
              </a:rPr>
              <a:t>Пространственно-временной запрос: bbox/полигон + интервал дат.</a:t>
            </a:r>
          </a:p>
          <a:p>
            <a:pPr algn="l">
              <a:spcAft>
                <a:spcPts val="1200"/>
              </a:spcAft>
            </a:pPr>
            <a:r>
              <a:rPr sz="1700" b="1">
                <a:solidFill>
                  <a:srgbClr val="E8433A"/>
                </a:solidFill>
                <a:latin typeface="Arial"/>
              </a:rPr>
              <a:t>•  </a:t>
            </a:r>
            <a:r>
              <a:rPr sz="1700" b="1">
                <a:solidFill>
                  <a:srgbClr val="141B2E"/>
                </a:solidFill>
                <a:latin typeface="Arial"/>
              </a:rPr>
              <a:t>Термоточки и контуры </a:t>
            </a:r>
            <a:r>
              <a:rPr sz="1700" b="0">
                <a:solidFill>
                  <a:srgbClr val="141B2E"/>
                </a:solidFill>
                <a:latin typeface="Arial"/>
              </a:rPr>
              <a:t>поверх картографической подложки (Leaflet/OSM).</a:t>
            </a:r>
          </a:p>
          <a:p>
            <a:pPr algn="l">
              <a:spcAft>
                <a:spcPts val="1200"/>
              </a:spcAft>
            </a:pPr>
            <a:r>
              <a:rPr sz="1700" b="1">
                <a:solidFill>
                  <a:srgbClr val="E8433A"/>
                </a:solidFill>
                <a:latin typeface="Arial"/>
              </a:rPr>
              <a:t>•  </a:t>
            </a:r>
            <a:r>
              <a:rPr sz="1700" b="1">
                <a:solidFill>
                  <a:srgbClr val="141B2E"/>
                </a:solidFill>
                <a:latin typeface="Arial"/>
              </a:rPr>
              <a:t>Выгрузка GeoJSON </a:t>
            </a:r>
            <a:r>
              <a:rPr sz="1700" b="0">
                <a:solidFill>
                  <a:srgbClr val="141B2E"/>
                </a:solidFill>
                <a:latin typeface="Arial"/>
              </a:rPr>
              <a:t>в EPSG:4326 с атрибутами contour_id, severity_class, area_ha.</a:t>
            </a:r>
          </a:p>
          <a:p>
            <a:pPr algn="l">
              <a:spcAft>
                <a:spcPts val="1200"/>
              </a:spcAft>
            </a:pPr>
            <a:r>
              <a:rPr sz="1700" b="1">
                <a:solidFill>
                  <a:srgbClr val="E8433A"/>
                </a:solidFill>
                <a:latin typeface="Arial"/>
              </a:rPr>
              <a:t>•  </a:t>
            </a:r>
            <a:r>
              <a:rPr sz="1700" b="1">
                <a:solidFill>
                  <a:srgbClr val="141B2E"/>
                </a:solidFill>
                <a:latin typeface="Arial"/>
              </a:rPr>
              <a:t>Справка по площади </a:t>
            </a:r>
            <a:r>
              <a:rPr sz="1700" b="0">
                <a:solidFill>
                  <a:srgbClr val="141B2E"/>
                </a:solidFill>
                <a:latin typeface="Arial"/>
              </a:rPr>
              <a:t>гари в гектарах и распределение по трём степеням, в CSV/JSON.</a:t>
            </a:r>
          </a:p>
          <a:p>
            <a:pPr algn="l">
              <a:spcAft>
                <a:spcPts val="1200"/>
              </a:spcAft>
            </a:pPr>
            <a:r>
              <a:rPr sz="1700" b="1">
                <a:solidFill>
                  <a:srgbClr val="E8433A"/>
                </a:solidFill>
                <a:latin typeface="Arial"/>
              </a:rPr>
              <a:t>•  </a:t>
            </a:r>
            <a:r>
              <a:rPr sz="1700" b="1">
                <a:solidFill>
                  <a:srgbClr val="141B2E"/>
                </a:solidFill>
                <a:latin typeface="Arial"/>
              </a:rPr>
              <a:t>Площадь </a:t>
            </a:r>
            <a:r>
              <a:rPr sz="1700" b="0">
                <a:solidFill>
                  <a:srgbClr val="141B2E"/>
                </a:solidFill>
                <a:latin typeface="Arial"/>
              </a:rPr>
              <a:t>считается по пикселям в проекции чипа (0.04 га/px для 20 м), не по градусам.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0" y="1554480"/>
            <a:ext cx="5120640" cy="4114800"/>
          </a:xfrm>
          <a:prstGeom prst="rect">
            <a:avLst/>
          </a:prstGeom>
          <a:solidFill>
            <a:srgbClr val="141B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629400" y="1783080"/>
            <a:ext cx="466344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C6CDDA"/>
                </a:solidFill>
                <a:latin typeface="Arial"/>
              </a:rPr>
              <a:t>Проверено вживую (каталог train):</a:t>
            </a:r>
          </a:p>
          <a:p>
            <a:pPr algn="l">
              <a:spcAft>
                <a:spcPts val="400"/>
              </a:spcAft>
            </a:pPr>
            <a:r>
              <a:rPr sz="600" b="0">
                <a:solidFill>
                  <a:srgbClr val="FFFFFF"/>
                </a:solidFill>
                <a:latin typeface="Arial"/>
              </a:rPr>
              <a:t/>
            </a:r>
          </a:p>
          <a:p>
            <a:pPr algn="l">
              <a:spcAft>
                <a:spcPts val="400"/>
              </a:spcAft>
            </a:pPr>
            <a:r>
              <a:rPr sz="1400" b="1">
                <a:solidFill>
                  <a:srgbClr val="1FA66E"/>
                </a:solidFill>
                <a:latin typeface="Arial"/>
              </a:rPr>
              <a:t>10 596 термоточек · 83 195 контуров</a:t>
            </a:r>
          </a:p>
          <a:p>
            <a:pPr algn="l">
              <a:spcAft>
                <a:spcPts val="400"/>
              </a:spcAft>
            </a:pPr>
            <a:r>
              <a:rPr sz="600" b="0">
                <a:solidFill>
                  <a:srgbClr val="FFFFFF"/>
                </a:solidFill>
                <a:latin typeface="Arial"/>
              </a:rPr>
              <a:t/>
            </a:r>
          </a:p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POST /api/query</a:t>
            </a:r>
          </a:p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GET  /api/hotspots</a:t>
            </a:r>
          </a:p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GET  /api/burn-scars?download=true</a:t>
            </a:r>
          </a:p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GET  /api/summary?format=json</a:t>
            </a:r>
          </a:p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GET  /health · /api/catalog</a:t>
            </a:r>
          </a:p>
          <a:p>
            <a:pPr algn="l">
              <a:spcAft>
                <a:spcPts val="400"/>
              </a:spcAft>
            </a:pPr>
            <a:r>
              <a:rPr sz="600" b="0">
                <a:solidFill>
                  <a:srgbClr val="FFFFFF"/>
                </a:solidFill>
                <a:latin typeface="Arial"/>
              </a:rPr>
              <a:t/>
            </a:r>
          </a:p>
          <a:p>
            <a:pPr algn="l">
              <a:spcAft>
                <a:spcPts val="400"/>
              </a:spcAft>
            </a:pPr>
            <a:r>
              <a:rPr sz="1200" b="0">
                <a:solidFill>
                  <a:srgbClr val="C6CDDA"/>
                </a:solidFill>
                <a:latin typeface="Arial"/>
              </a:rPr>
              <a:t>summary bbox → 515 га, 13 контуров,</a:t>
            </a:r>
          </a:p>
          <a:p>
            <a:pPr algn="l">
              <a:spcAft>
                <a:spcPts val="400"/>
              </a:spcAft>
            </a:pPr>
            <a:r>
              <a:rPr sz="1200" b="0">
                <a:solidFill>
                  <a:srgbClr val="C6CDDA"/>
                </a:solidFill>
                <a:latin typeface="Arial"/>
              </a:rPr>
              <a:t>распределение по степеням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1B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E843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64592"/>
            <a:ext cx="1033272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2600" b="1">
                <a:solidFill>
                  <a:srgbClr val="FFFFFF"/>
                </a:solidFill>
                <a:latin typeface="Arial"/>
              </a:rPr>
              <a:t>Ограничения и развитие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164592"/>
            <a:ext cx="8229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spcAft>
                <a:spcPts val="600"/>
              </a:spcAft>
            </a:pPr>
            <a:r>
              <a:rPr sz="2600" b="1">
                <a:solidFill>
                  <a:srgbClr val="E8433A"/>
                </a:solidFill>
                <a:latin typeface="Arial"/>
              </a:rPr>
              <a:t>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35508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5A6372"/>
                </a:solidFill>
                <a:latin typeface="Arial"/>
              </a:rPr>
              <a:t>КосмоХакатон 2026 · Красноярск · команда «вувузела без семена»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463040"/>
            <a:ext cx="54864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0"/>
              </a:spcAft>
            </a:pPr>
            <a:r>
              <a:rPr sz="1600" b="1">
                <a:solidFill>
                  <a:srgbClr val="E8433A"/>
                </a:solidFill>
                <a:latin typeface="Arial"/>
              </a:rPr>
              <a:t>•  </a:t>
            </a:r>
            <a:r>
              <a:rPr sz="1600" b="0">
                <a:solidFill>
                  <a:srgbClr val="141B2E"/>
                </a:solidFill>
                <a:latin typeface="Arial"/>
              </a:rPr>
              <a:t>Пропуск малых и слабых очагов на грани разброса фона</a:t>
            </a:r>
          </a:p>
          <a:p>
            <a:pPr algn="l">
              <a:spcAft>
                <a:spcPts val="1200"/>
              </a:spcAft>
            </a:pPr>
            <a:r>
              <a:rPr sz="1600" b="1">
                <a:solidFill>
                  <a:srgbClr val="E8433A"/>
                </a:solidFill>
                <a:latin typeface="Arial"/>
              </a:rPr>
              <a:t>•  </a:t>
            </a:r>
            <a:r>
              <a:rPr sz="1600" b="0">
                <a:solidFill>
                  <a:srgbClr val="141B2E"/>
                </a:solidFill>
                <a:latin typeface="Arial"/>
              </a:rPr>
              <a:t>Техногенные аномалии вне застройки могут пройти фильтр</a:t>
            </a:r>
          </a:p>
          <a:p>
            <a:pPr algn="l">
              <a:spcAft>
                <a:spcPts val="1200"/>
              </a:spcAft>
            </a:pPr>
            <a:r>
              <a:rPr sz="1600" b="1">
                <a:solidFill>
                  <a:srgbClr val="E8433A"/>
                </a:solidFill>
                <a:latin typeface="Arial"/>
              </a:rPr>
              <a:t>•  </a:t>
            </a:r>
            <a:r>
              <a:rPr sz="1600" b="0">
                <a:solidFill>
                  <a:srgbClr val="141B2E"/>
                </a:solidFill>
                <a:latin typeface="Arial"/>
              </a:rPr>
              <a:t>Ложные контуры на убранных полях; пороги пашни — открытый вопрос</a:t>
            </a:r>
          </a:p>
          <a:p>
            <a:pPr algn="l">
              <a:spcAft>
                <a:spcPts val="1200"/>
              </a:spcAft>
            </a:pPr>
            <a:r>
              <a:rPr sz="1600" b="1">
                <a:solidFill>
                  <a:srgbClr val="E8433A"/>
                </a:solidFill>
                <a:latin typeface="Arial"/>
              </a:rPr>
              <a:t>•  </a:t>
            </a:r>
            <a:r>
              <a:rPr sz="1600" b="0">
                <a:solidFill>
                  <a:srgbClr val="141B2E"/>
                </a:solidFill>
                <a:latin typeface="Arial"/>
              </a:rPr>
              <a:t>Смешение соседних классов степени (границы 1/2, 2/3)</a:t>
            </a:r>
          </a:p>
          <a:p>
            <a:pPr algn="l">
              <a:spcAft>
                <a:spcPts val="1200"/>
              </a:spcAft>
            </a:pPr>
            <a:r>
              <a:rPr sz="1600" b="1">
                <a:solidFill>
                  <a:srgbClr val="E8433A"/>
                </a:solidFill>
                <a:latin typeface="Arial"/>
              </a:rPr>
              <a:t>•  </a:t>
            </a:r>
            <a:r>
              <a:rPr sz="1600" b="0">
                <a:solidFill>
                  <a:srgbClr val="141B2E"/>
                </a:solidFill>
                <a:latin typeface="Arial"/>
              </a:rPr>
              <a:t>Класс под облаком восстановлен по SAR — средняя степень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1371600"/>
            <a:ext cx="5120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>
                <a:solidFill>
                  <a:srgbClr val="E8433A"/>
                </a:solidFill>
                <a:latin typeface="Arial"/>
              </a:rPr>
              <a:t>Направления развития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1920240"/>
            <a:ext cx="512064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0"/>
              </a:spcAft>
            </a:pPr>
            <a:r>
              <a:rPr sz="1600" b="1">
                <a:solidFill>
                  <a:srgbClr val="E8433A"/>
                </a:solidFill>
                <a:latin typeface="Arial"/>
              </a:rPr>
              <a:t>•  </a:t>
            </a:r>
            <a:r>
              <a:rPr sz="1600" b="0">
                <a:solidFill>
                  <a:srgbClr val="141B2E"/>
                </a:solidFill>
                <a:latin typeface="Arial"/>
              </a:rPr>
              <a:t>Свёрточная сегментация модуля 2: форма контура — сильный признак против пашни</a:t>
            </a:r>
          </a:p>
          <a:p>
            <a:pPr algn="l">
              <a:spcAft>
                <a:spcPts val="1200"/>
              </a:spcAft>
            </a:pPr>
            <a:r>
              <a:rPr sz="1600" b="1">
                <a:solidFill>
                  <a:srgbClr val="E8433A"/>
                </a:solidFill>
                <a:latin typeface="Arial"/>
              </a:rPr>
              <a:t>•  </a:t>
            </a:r>
            <a:r>
              <a:rPr sz="1600" b="0">
                <a:solidFill>
                  <a:srgbClr val="141B2E"/>
                </a:solidFill>
                <a:latin typeface="Arial"/>
              </a:rPr>
              <a:t>Карта постоянных термоточек по многолетнему архиву для модуля 1</a:t>
            </a:r>
          </a:p>
          <a:p>
            <a:pPr algn="l">
              <a:spcAft>
                <a:spcPts val="1200"/>
              </a:spcAft>
            </a:pPr>
            <a:r>
              <a:rPr sz="1600" b="1">
                <a:solidFill>
                  <a:srgbClr val="E8433A"/>
                </a:solidFill>
                <a:latin typeface="Arial"/>
              </a:rPr>
              <a:t>•  </a:t>
            </a:r>
            <a:r>
              <a:rPr sz="1600" b="0">
                <a:solidFill>
                  <a:srgbClr val="141B2E"/>
                </a:solidFill>
                <a:latin typeface="Arial"/>
              </a:rPr>
              <a:t>Подбор порога вероятности AF по максимуму F1 на валидации</a:t>
            </a:r>
          </a:p>
          <a:p>
            <a:pPr algn="l">
              <a:spcAft>
                <a:spcPts val="1200"/>
              </a:spcAft>
            </a:pPr>
            <a:r>
              <a:rPr sz="1600" b="1">
                <a:solidFill>
                  <a:srgbClr val="E8433A"/>
                </a:solidFill>
                <a:latin typeface="Arial"/>
              </a:rPr>
              <a:t>•  </a:t>
            </a:r>
            <a:r>
              <a:rPr sz="1600" b="0">
                <a:solidFill>
                  <a:srgbClr val="141B2E"/>
                </a:solidFill>
                <a:latin typeface="Arial"/>
              </a:rPr>
              <a:t>Кросс-валидация по нескольким разбиениям fire_event_id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B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788920"/>
            <a:ext cx="12191695" cy="54864"/>
          </a:xfrm>
          <a:prstGeom prst="rect">
            <a:avLst/>
          </a:prstGeom>
          <a:solidFill>
            <a:srgbClr val="E843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173736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600" b="1">
                <a:solidFill>
                  <a:srgbClr val="FFFFFF"/>
                </a:solidFill>
                <a:latin typeface="Arial"/>
              </a:rPr>
              <a:t>Спасибо. Готовы к вопросам.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3017520"/>
            <a:ext cx="10515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600" b="0">
                <a:solidFill>
                  <a:srgbClr val="C6CDDA"/>
                </a:solidFill>
                <a:latin typeface="Arial"/>
              </a:rPr>
              <a:t>Репозиторий: gitverse.ru/hackrus.experts/kosmo-krasnoiarsk_vuvuzelabez_semena_37</a:t>
            </a:r>
          </a:p>
          <a:p>
            <a:pPr algn="l">
              <a:spcAft>
                <a:spcPts val="1000"/>
              </a:spcAft>
            </a:pPr>
            <a:r>
              <a:rPr sz="1600" b="0">
                <a:solidFill>
                  <a:srgbClr val="C6CDDA"/>
                </a:solidFill>
                <a:latin typeface="Arial"/>
              </a:rPr>
              <a:t>Два модуля · единый submission.csv в RLE · REST-сервис с картой и GeoJSON</a:t>
            </a:r>
          </a:p>
          <a:p>
            <a:pPr algn="l">
              <a:spcAft>
                <a:spcPts val="1000"/>
              </a:spcAft>
            </a:pPr>
            <a:r>
              <a:rPr sz="1600" b="0">
                <a:solidFill>
                  <a:srgbClr val="C6CDDA"/>
                </a:solidFill>
                <a:latin typeface="Arial"/>
              </a:rPr>
              <a:t>Воспроизводимо: requirements + Dockerfile, фиксированный seed, веса в репозитории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585216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5A6372"/>
                </a:solidFill>
                <a:latin typeface="Arial"/>
              </a:rPr>
              <a:t>КосмоХакатон 2026 · команда «вувузела без семена»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